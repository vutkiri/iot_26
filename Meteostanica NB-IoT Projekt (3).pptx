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9" r:id="rId9"/>
    <p:sldId id="268" r:id="rId10"/>
    <p:sldId id="264" r:id="rId11"/>
    <p:sldId id="262" r:id="rId12"/>
    <p:sldId id="267" r:id="rId13"/>
    <p:sldId id="266" r:id="rId14"/>
  </p:sldIdLst>
  <p:sldSz cx="12192000" cy="6858000"/>
  <p:notesSz cx="6858000" cy="9144000"/>
  <p:embeddedFontLst>
    <p:embeddedFont>
      <p:font typeface="Urbanist" panose="020B0A04040200000203"/>
      <p:regular r:id="rId16"/>
      <p:bold r:id="rId17"/>
      <p:italic r:id="rId18"/>
      <p:boldItalic r:id="rId19"/>
    </p:embeddedFont>
    <p:embeddedFont>
      <p:font typeface="Urbanist Medium" panose="020B0A04040200000203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00E81A-3C30-5018-7682-6CED6FB7BE82}" name="Kiripolský Šimon (256756)" initials="K(" userId="S::256756@vutbr.cz::95b639a1-27e8-4b1c-839a-f4a14ced6c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822331-E7B4-20AF-E0F0-CE42EA940545}" v="344" dt="2026-05-20T06:38:31.632"/>
    <p1510:client id="{E56D5E80-F828-30A1-2FC6-D6DCBB33A84A}" v="108" dt="2026-05-19T17:12:41.762"/>
    <p1510:client id="{FDEC5D28-DD9B-B5B8-5D68-68DCF3FBC792}" v="650" dt="2026-05-19T20:41:37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1" d="100"/>
          <a:sy n="121" d="100"/>
        </p:scale>
        <p:origin x="73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9D5FCCBC-2625-EAC6-B612-E1AEE58CE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>
            <a:extLst>
              <a:ext uri="{FF2B5EF4-FFF2-40B4-BE49-F238E27FC236}">
                <a16:creationId xmlns:a16="http://schemas.microsoft.com/office/drawing/2014/main" id="{070B7B73-FA99-C2D2-A5B6-98610B38C2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>
            <a:extLst>
              <a:ext uri="{FF2B5EF4-FFF2-40B4-BE49-F238E27FC236}">
                <a16:creationId xmlns:a16="http://schemas.microsoft.com/office/drawing/2014/main" id="{B334D33E-F158-4243-CE66-221F2B88C1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76245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50F3BA87-5E14-6F91-770E-34CBFCF77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>
            <a:extLst>
              <a:ext uri="{FF2B5EF4-FFF2-40B4-BE49-F238E27FC236}">
                <a16:creationId xmlns:a16="http://schemas.microsoft.com/office/drawing/2014/main" id="{AAED6F28-BBF7-A300-6F23-8A7C2B645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>
            <a:extLst>
              <a:ext uri="{FF2B5EF4-FFF2-40B4-BE49-F238E27FC236}">
                <a16:creationId xmlns:a16="http://schemas.microsoft.com/office/drawing/2014/main" id="{877D663E-F6D7-AEFD-83A3-1C04F3ABBB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0429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66608D72-0342-614C-A06C-AC34C5449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>
            <a:extLst>
              <a:ext uri="{FF2B5EF4-FFF2-40B4-BE49-F238E27FC236}">
                <a16:creationId xmlns:a16="http://schemas.microsoft.com/office/drawing/2014/main" id="{41A7FC00-5F40-E414-C62A-D8BAB55C2E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>
            <a:extLst>
              <a:ext uri="{FF2B5EF4-FFF2-40B4-BE49-F238E27FC236}">
                <a16:creationId xmlns:a16="http://schemas.microsoft.com/office/drawing/2014/main" id="{DBF8B6C5-7E0F-7021-9030-CDAD35754E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21580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alpha val="64045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10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0;p21" descr="image.png">
            <a:extLst>
              <a:ext uri="{FF2B5EF4-FFF2-40B4-BE49-F238E27FC236}">
                <a16:creationId xmlns:a16="http://schemas.microsoft.com/office/drawing/2014/main" id="{507B78B8-9538-F2ED-E060-FF802BB48F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3105" y="934801"/>
            <a:ext cx="10881960" cy="439663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dĺžnik 15">
            <a:extLst>
              <a:ext uri="{FF2B5EF4-FFF2-40B4-BE49-F238E27FC236}">
                <a16:creationId xmlns:a16="http://schemas.microsoft.com/office/drawing/2014/main" id="{B3461CF0-21E4-D9C7-F749-CB8F0EE7A5B5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sp>
        <p:nvSpPr>
          <p:cNvPr id="85" name="Google Shape;85;p13"/>
          <p:cNvSpPr txBox="1"/>
          <p:nvPr/>
        </p:nvSpPr>
        <p:spPr>
          <a:xfrm>
            <a:off x="295275" y="1918394"/>
            <a:ext cx="1160145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</a:t>
            </a:r>
            <a:r>
              <a:rPr lang="en-US" sz="60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Meteostation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66964" y="2945280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Bezdrôtové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IoT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riešenie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v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licencovanom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pásme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NB-IoT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711005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S. JÁNOŠÍK • F. KAJTÁR •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Š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 KIRIPOLSKÝ • M. KOLÁŘ</a:t>
            </a:r>
            <a:endParaRPr dirty="0"/>
          </a:p>
        </p:txBody>
      </p:sp>
      <p:pic>
        <p:nvPicPr>
          <p:cNvPr id="3" name="Picture 2" descr="ELEKTRON-O nás">
            <a:extLst>
              <a:ext uri="{FF2B5EF4-FFF2-40B4-BE49-F238E27FC236}">
                <a16:creationId xmlns:a16="http://schemas.microsoft.com/office/drawing/2014/main" id="{9DA6F939-F191-1EBA-597E-D5CAE56DF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0;p21" descr="image.png">
            <a:extLst>
              <a:ext uri="{FF2B5EF4-FFF2-40B4-BE49-F238E27FC236}">
                <a16:creationId xmlns:a16="http://schemas.microsoft.com/office/drawing/2014/main" id="{E0AE1859-06E7-4117-192C-57BA411FA1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632" y="358346"/>
            <a:ext cx="5476618" cy="592815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004660" y="2892000"/>
            <a:ext cx="59213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Odľahlá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lokalita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 (les, pole,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stožiar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)</a:t>
            </a:r>
            <a:endParaRPr lang="sk-SK" sz="2000" b="1">
              <a:solidFill>
                <a:schemeClr val="bg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00125" y="3413819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Výška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 10 m bez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dátových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rozvodov</a:t>
            </a:r>
            <a:endParaRPr lang="sk-SK" sz="2000" b="1">
              <a:solidFill>
                <a:schemeClr val="bg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3971925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Monitoring: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teploty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,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vlhkosti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,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vetra</a:t>
            </a:r>
            <a:endParaRPr lang="sk-SK" sz="2000" b="1">
              <a:solidFill>
                <a:schemeClr val="bg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4530030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Nutnosť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 GPS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lokalizácie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zariadenia</a:t>
            </a:r>
            <a:endParaRPr lang="sk-SK" sz="2000" b="1">
              <a:solidFill>
                <a:schemeClr val="bg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81037" y="1506141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ANALÝZA ZADANIA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Picture 2" descr="Pylon Radio Antennas Wifi Broadcast Stock Image - Image of television,  antenna: 161621701">
            <a:extLst>
              <a:ext uri="{FF2B5EF4-FFF2-40B4-BE49-F238E27FC236}">
                <a16:creationId xmlns:a16="http://schemas.microsoft.com/office/drawing/2014/main" id="{439A6335-566F-B432-5220-ABD88F15A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7986" y="1044542"/>
            <a:ext cx="3325725" cy="47385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Google Shape;136;p16">
            <a:extLst>
              <a:ext uri="{FF2B5EF4-FFF2-40B4-BE49-F238E27FC236}">
                <a16:creationId xmlns:a16="http://schemas.microsoft.com/office/drawing/2014/main" id="{CA59C0F2-FBC2-DFED-8B08-E52875069F57}"/>
              </a:ext>
            </a:extLst>
          </p:cNvPr>
          <p:cNvSpPr/>
          <p:nvPr/>
        </p:nvSpPr>
        <p:spPr>
          <a:xfrm>
            <a:off x="571500" y="1506141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Obdĺžnik 15">
            <a:extLst>
              <a:ext uri="{FF2B5EF4-FFF2-40B4-BE49-F238E27FC236}">
                <a16:creationId xmlns:a16="http://schemas.microsoft.com/office/drawing/2014/main" id="{7142A024-CCF0-14D5-F3D7-708CBEC77677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8" name="Picture 2" descr="ELEKTRON-O nás">
            <a:extLst>
              <a:ext uri="{FF2B5EF4-FFF2-40B4-BE49-F238E27FC236}">
                <a16:creationId xmlns:a16="http://schemas.microsoft.com/office/drawing/2014/main" id="{13CEEEE7-A6A5-9622-0486-7662D072E9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220;p21" descr="image.png">
            <a:extLst>
              <a:ext uri="{FF2B5EF4-FFF2-40B4-BE49-F238E27FC236}">
                <a16:creationId xmlns:a16="http://schemas.microsoft.com/office/drawing/2014/main" id="{E89A6D83-505F-C2A9-8608-E47422093F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127" y="587292"/>
            <a:ext cx="6618514" cy="1097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9546"/>
            <a:ext cx="2547937" cy="2672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559546"/>
            <a:ext cx="2547937" cy="2672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559546"/>
            <a:ext cx="2547937" cy="2672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2559546"/>
            <a:ext cx="2547937" cy="2672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17840" y="2778167"/>
            <a:ext cx="2055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"/>
              </a:rPr>
              <a:t>STATICKÝ UZOL</a:t>
            </a:r>
            <a:endParaRPr lang="sk-SK" sz="1600" b="1">
              <a:latin typeface="Urbanist Medium"/>
              <a:ea typeface="Urbanist Medium"/>
              <a:cs typeface="Urbanist Medium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71501" y="3242511"/>
            <a:ext cx="2554184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Zariadenie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je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stacionárne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nevyžaduje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podporu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pre mobility handover</a:t>
            </a:r>
            <a:r>
              <a:rPr lang="en-US" sz="16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600"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3556277" y="2778167"/>
            <a:ext cx="2055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ÚZKE PÁSMO</a:t>
            </a:r>
            <a:endParaRPr lang="sk-SK" sz="2000" b="1"/>
          </a:p>
        </p:txBody>
      </p:sp>
      <p:sp>
        <p:nvSpPr>
          <p:cNvPr id="118" name="Google Shape;118;p15"/>
          <p:cNvSpPr txBox="1"/>
          <p:nvPr/>
        </p:nvSpPr>
        <p:spPr>
          <a:xfrm>
            <a:off x="3557586" y="3243985"/>
            <a:ext cx="2243138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25"/>
              </a:lnSpc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Prenos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malých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balíkov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dát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s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nízkou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réžiou</a:t>
            </a:r>
            <a:br>
              <a:rPr lang="en-US" sz="18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8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energetickou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náročnosťou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sk-SK" sz="1800"/>
          </a:p>
        </p:txBody>
      </p:sp>
      <p:sp>
        <p:nvSpPr>
          <p:cNvPr id="119" name="Google Shape;119;p15"/>
          <p:cNvSpPr txBox="1"/>
          <p:nvPr/>
        </p:nvSpPr>
        <p:spPr>
          <a:xfrm>
            <a:off x="6485215" y="2778167"/>
            <a:ext cx="2055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PENETRÁCIA</a:t>
            </a:r>
            <a:endParaRPr lang="sk-SK" sz="2000"/>
          </a:p>
        </p:txBody>
      </p:sp>
      <p:sp>
        <p:nvSpPr>
          <p:cNvPr id="120" name="Google Shape;120;p15"/>
          <p:cNvSpPr txBox="1"/>
          <p:nvPr/>
        </p:nvSpPr>
        <p:spPr>
          <a:xfrm>
            <a:off x="6534150" y="3243985"/>
            <a:ext cx="1957387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25"/>
              </a:lnSpc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Excelentný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dosah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aj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cez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hustý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lesný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porast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sk-SK" sz="1800"/>
          </a:p>
        </p:txBody>
      </p:sp>
      <p:sp>
        <p:nvSpPr>
          <p:cNvPr id="121" name="Google Shape;121;p15"/>
          <p:cNvSpPr txBox="1"/>
          <p:nvPr/>
        </p:nvSpPr>
        <p:spPr>
          <a:xfrm>
            <a:off x="9318902" y="2778167"/>
            <a:ext cx="2055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QOS GARANCIA</a:t>
            </a:r>
            <a:endParaRPr lang="sk-SK" sz="2000"/>
          </a:p>
        </p:txBody>
      </p:sp>
      <p:sp>
        <p:nvSpPr>
          <p:cNvPr id="122" name="Google Shape;122;p15"/>
          <p:cNvSpPr txBox="1"/>
          <p:nvPr/>
        </p:nvSpPr>
        <p:spPr>
          <a:xfrm>
            <a:off x="9109302" y="3243985"/>
            <a:ext cx="2474457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Prevádzka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v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licencovanom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pásme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bez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komerčného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rušenia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sk-SK" sz="1800"/>
          </a:p>
        </p:txBody>
      </p:sp>
      <p:sp>
        <p:nvSpPr>
          <p:cNvPr id="127" name="Google Shape;127;p15"/>
          <p:cNvSpPr txBox="1"/>
          <p:nvPr/>
        </p:nvSpPr>
        <p:spPr>
          <a:xfrm>
            <a:off x="884465" y="85725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VOĽBA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NB-IOT</a:t>
            </a: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TECHNOLÓGIE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703036" y="85725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bdĺžnik 15">
            <a:extLst>
              <a:ext uri="{FF2B5EF4-FFF2-40B4-BE49-F238E27FC236}">
                <a16:creationId xmlns:a16="http://schemas.microsoft.com/office/drawing/2014/main" id="{F8031638-3F32-365F-A704-8E7E8482234D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5" name="Picture 2" descr="ELEKTRON-O nás">
            <a:extLst>
              <a:ext uri="{FF2B5EF4-FFF2-40B4-BE49-F238E27FC236}">
                <a16:creationId xmlns:a16="http://schemas.microsoft.com/office/drawing/2014/main" id="{AF24C559-70ED-E952-D7DC-DB2E013C85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0;p21" descr="image.png">
            <a:extLst>
              <a:ext uri="{FF2B5EF4-FFF2-40B4-BE49-F238E27FC236}">
                <a16:creationId xmlns:a16="http://schemas.microsoft.com/office/drawing/2014/main" id="{3F3C5D30-D924-491C-65EA-7FF2736974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62" y="410399"/>
            <a:ext cx="6006192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84964" y="1209901"/>
            <a:ext cx="50006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MODUL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BG77</a:t>
            </a:r>
            <a:endParaRPr dirty="0"/>
          </a:p>
        </p:txBody>
      </p:sp>
      <p:sp>
        <p:nvSpPr>
          <p:cNvPr id="136" name="Google Shape;136;p16"/>
          <p:cNvSpPr/>
          <p:nvPr/>
        </p:nvSpPr>
        <p:spPr>
          <a:xfrm>
            <a:off x="624866" y="119597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975073" y="2710350"/>
            <a:ext cx="5626143" cy="51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LTE Cat M1 / Cat </a:t>
            </a:r>
            <a:r>
              <a:rPr lang="en-US" sz="24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NB-IoT</a:t>
            </a:r>
            <a:r>
              <a:rPr lang="en-US" sz="2400" b="1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400" b="1" i="0" u="none" strike="noStrike" cap="none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modul</a:t>
            </a:r>
            <a:endParaRPr lang="sk-SK" sz="1800" b="1"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975073" y="3267899"/>
            <a:ext cx="5626143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Integrované</a:t>
            </a:r>
            <a:r>
              <a:rPr lang="en-US" sz="2400" b="1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GNSS (GPS/GLONASS)</a:t>
            </a:r>
            <a:endParaRPr lang="sk-SK" sz="1800" b="1"/>
          </a:p>
        </p:txBody>
      </p:sp>
      <p:sp>
        <p:nvSpPr>
          <p:cNvPr id="139" name="Google Shape;139;p16"/>
          <p:cNvSpPr txBox="1"/>
          <p:nvPr/>
        </p:nvSpPr>
        <p:spPr>
          <a:xfrm>
            <a:off x="975073" y="3807862"/>
            <a:ext cx="672378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Ultra-low power </a:t>
            </a:r>
            <a:r>
              <a:rPr lang="en-US" sz="2400" b="1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režimy</a:t>
            </a:r>
            <a:r>
              <a:rPr lang="en-US" sz="24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(PSM, </a:t>
            </a:r>
            <a:r>
              <a:rPr lang="en-US" sz="2400" b="1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eDRX</a:t>
            </a:r>
            <a:r>
              <a:rPr lang="en-US" sz="24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)</a:t>
            </a:r>
            <a:endParaRPr lang="sk-SK" sz="2400" b="1" dirty="0">
              <a:solidFill>
                <a:srgbClr val="DAFFDE"/>
              </a:solidFill>
              <a:latin typeface="Urbanist Medium"/>
              <a:ea typeface="Urbanist Medium"/>
              <a:cs typeface="Urbanist Medium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975073" y="4384110"/>
            <a:ext cx="5626143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Hardvérová</a:t>
            </a:r>
            <a:r>
              <a:rPr lang="en-US" sz="2400" b="1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400" b="1" i="0" u="none" strike="noStrike" cap="none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TrustZone</a:t>
            </a:r>
            <a:r>
              <a:rPr lang="en-US" sz="2400" b="1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400" b="1" i="0" u="none" strike="noStrike" cap="none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bezpečnosť</a:t>
            </a:r>
            <a:endParaRPr lang="sk-SK" sz="1800" b="1" dirty="0" err="1"/>
          </a:p>
        </p:txBody>
      </p:sp>
      <p:pic>
        <p:nvPicPr>
          <p:cNvPr id="3" name="Picture 2" descr="LPWA BG77 Cat M1/NB2 | Quectel">
            <a:extLst>
              <a:ext uri="{FF2B5EF4-FFF2-40B4-BE49-F238E27FC236}">
                <a16:creationId xmlns:a16="http://schemas.microsoft.com/office/drawing/2014/main" id="{936BF6EC-9BF3-F1D5-3CE7-C42F2C637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891" y="1032651"/>
            <a:ext cx="5845037" cy="43906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Obdĺžnik 15">
            <a:extLst>
              <a:ext uri="{FF2B5EF4-FFF2-40B4-BE49-F238E27FC236}">
                <a16:creationId xmlns:a16="http://schemas.microsoft.com/office/drawing/2014/main" id="{674A7BCE-7EFB-9839-EA07-440038F0DEA9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7" name="Picture 2" descr="ELEKTRON-O nás">
            <a:extLst>
              <a:ext uri="{FF2B5EF4-FFF2-40B4-BE49-F238E27FC236}">
                <a16:creationId xmlns:a16="http://schemas.microsoft.com/office/drawing/2014/main" id="{3895A5EB-9347-79EC-B866-B23F792A7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220;p21" descr="image.png">
            <a:extLst>
              <a:ext uri="{FF2B5EF4-FFF2-40B4-BE49-F238E27FC236}">
                <a16:creationId xmlns:a16="http://schemas.microsoft.com/office/drawing/2014/main" id="{CDA00CAC-1160-ABC0-EBB2-97D01F33DB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9912" y="641720"/>
            <a:ext cx="5221516" cy="1065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7064"/>
            <a:ext cx="5238750" cy="3337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227064"/>
            <a:ext cx="5238750" cy="333732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962025" y="2526875"/>
            <a:ext cx="46805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EFEKTIVITA NAD UDP</a:t>
            </a:r>
            <a:endParaRPr lang="sk-SK" sz="2400" b="1"/>
          </a:p>
        </p:txBody>
      </p:sp>
      <p:sp>
        <p:nvSpPr>
          <p:cNvPr id="154" name="Google Shape;154;p17"/>
          <p:cNvSpPr txBox="1"/>
          <p:nvPr/>
        </p:nvSpPr>
        <p:spPr>
          <a:xfrm>
            <a:off x="962025" y="3065264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Navrhnutý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pre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obmedzené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uzly</a:t>
            </a:r>
            <a:endParaRPr lang="sk-SK" sz="2000" b="1"/>
          </a:p>
        </p:txBody>
      </p:sp>
      <p:sp>
        <p:nvSpPr>
          <p:cNvPr id="155" name="Google Shape;155;p17"/>
          <p:cNvSpPr txBox="1"/>
          <p:nvPr/>
        </p:nvSpPr>
        <p:spPr>
          <a:xfrm>
            <a:off x="962025" y="3613844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Binárna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hlavička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iba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4 </a:t>
            </a:r>
            <a:r>
              <a:rPr lang="en-US" sz="2000" b="1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bajty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lang="sk-SK" sz="2000" b="1">
              <a:latin typeface="Urbanist"/>
              <a:ea typeface="Urbanist"/>
              <a:cs typeface="Urbanist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962025" y="4162425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Minimalizácia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sieťovej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réžie</a:t>
            </a:r>
            <a:endParaRPr lang="sk-SK" sz="1600" b="1"/>
          </a:p>
        </p:txBody>
      </p:sp>
      <p:sp>
        <p:nvSpPr>
          <p:cNvPr id="157" name="Google Shape;157;p17"/>
          <p:cNvSpPr txBox="1"/>
          <p:nvPr/>
        </p:nvSpPr>
        <p:spPr>
          <a:xfrm>
            <a:off x="962025" y="4711005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RESTful model (Request/Response)</a:t>
            </a:r>
            <a:endParaRPr lang="sk-SK" sz="2000" b="1"/>
          </a:p>
        </p:txBody>
      </p:sp>
      <p:sp>
        <p:nvSpPr>
          <p:cNvPr id="158" name="Google Shape;158;p17"/>
          <p:cNvSpPr txBox="1"/>
          <p:nvPr/>
        </p:nvSpPr>
        <p:spPr>
          <a:xfrm>
            <a:off x="6772275" y="2526875"/>
            <a:ext cx="46805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"/>
              </a:rPr>
              <a:t>VÝHODY PRE NB-IOT</a:t>
            </a:r>
            <a:endParaRPr lang="sk-SK" sz="2400" b="1">
              <a:latin typeface="Urbanist Medium"/>
              <a:ea typeface="Urbanist Medium"/>
              <a:cs typeface="Urbanist Medium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6772275" y="3065264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O 70%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menej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dát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ako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MQTT/TCP</a:t>
            </a:r>
            <a:endParaRPr lang="sk-SK" sz="2000" b="1"/>
          </a:p>
        </p:txBody>
      </p:sp>
      <p:sp>
        <p:nvSpPr>
          <p:cNvPr id="160" name="Google Shape;160;p17"/>
          <p:cNvSpPr txBox="1"/>
          <p:nvPr/>
        </p:nvSpPr>
        <p:spPr>
          <a:xfrm>
            <a:off x="6772275" y="3613844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Netreba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nadväzovať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spojenie</a:t>
            </a:r>
            <a:endParaRPr lang="sk-SK" sz="1600" b="1"/>
          </a:p>
        </p:txBody>
      </p:sp>
      <p:sp>
        <p:nvSpPr>
          <p:cNvPr id="161" name="Google Shape;161;p17"/>
          <p:cNvSpPr txBox="1"/>
          <p:nvPr/>
        </p:nvSpPr>
        <p:spPr>
          <a:xfrm>
            <a:off x="6772275" y="4162425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Nižšia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latencia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prenosu</a:t>
            </a:r>
            <a:endParaRPr lang="sk-SK" sz="2000" b="1"/>
          </a:p>
        </p:txBody>
      </p:sp>
      <p:sp>
        <p:nvSpPr>
          <p:cNvPr id="162" name="Google Shape;162;p17"/>
          <p:cNvSpPr txBox="1"/>
          <p:nvPr/>
        </p:nvSpPr>
        <p:spPr>
          <a:xfrm>
            <a:off x="6772275" y="4711005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Podpora CON (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potvrdzovanie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lang="sk-SK" sz="2000" b="1"/>
          </a:p>
        </p:txBody>
      </p:sp>
      <p:sp>
        <p:nvSpPr>
          <p:cNvPr id="163" name="Google Shape;163;p17"/>
          <p:cNvSpPr txBox="1"/>
          <p:nvPr/>
        </p:nvSpPr>
        <p:spPr>
          <a:xfrm>
            <a:off x="962025" y="897434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PROTOKOL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COAP</a:t>
            </a:r>
            <a:endParaRPr dirty="0"/>
          </a:p>
        </p:txBody>
      </p:sp>
      <p:sp>
        <p:nvSpPr>
          <p:cNvPr id="164" name="Google Shape;164;p17"/>
          <p:cNvSpPr/>
          <p:nvPr/>
        </p:nvSpPr>
        <p:spPr>
          <a:xfrm>
            <a:off x="671709" y="897434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bdĺžnik 15">
            <a:extLst>
              <a:ext uri="{FF2B5EF4-FFF2-40B4-BE49-F238E27FC236}">
                <a16:creationId xmlns:a16="http://schemas.microsoft.com/office/drawing/2014/main" id="{E8A20175-40B8-48DE-D507-3954096ECD34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5" name="Picture 2" descr="ELEKTRON-O nás">
            <a:extLst>
              <a:ext uri="{FF2B5EF4-FFF2-40B4-BE49-F238E27FC236}">
                <a16:creationId xmlns:a16="http://schemas.microsoft.com/office/drawing/2014/main" id="{B2622FC5-1F5D-FD62-84C6-DD53B264A8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20;p21" descr="image.png">
            <a:extLst>
              <a:ext uri="{FF2B5EF4-FFF2-40B4-BE49-F238E27FC236}">
                <a16:creationId xmlns:a16="http://schemas.microsoft.com/office/drawing/2014/main" id="{CA06BCF8-CB69-593D-162B-45ECE2091F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62" y="410399"/>
            <a:ext cx="58293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1000125" y="2855714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Všesmerová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Omni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anténa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(5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dBi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)</a:t>
            </a:r>
            <a:endParaRPr lang="sk-SK" sz="2000">
              <a:solidFill>
                <a:schemeClr val="bg1"/>
              </a:solidFill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1000125" y="3413819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Pokrytie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360° bez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nutnosti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smerovania</a:t>
            </a:r>
            <a:endParaRPr lang="sk-SK" sz="2000">
              <a:solidFill>
                <a:schemeClr val="bg1"/>
              </a:solidFill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1000125" y="3971925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Pásmo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B20 (</a:t>
            </a:r>
            <a:r>
              <a:rPr lang="en-US" sz="2000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800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MHz)</a:t>
            </a:r>
            <a:endParaRPr lang="sk-SK" sz="2000" dirty="0">
              <a:solidFill>
                <a:schemeClr val="bg1"/>
              </a:solidFill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1000125" y="4530030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Nízkoútlmový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kábel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H155 (10 m)</a:t>
            </a:r>
            <a:endParaRPr lang="sk-SK" sz="2000">
              <a:solidFill>
                <a:schemeClr val="bg1"/>
              </a:solidFill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739321" y="848179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ANTÉNNY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SYSTÉM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80571" y="848179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Obdĺžnik 15">
            <a:extLst>
              <a:ext uri="{FF2B5EF4-FFF2-40B4-BE49-F238E27FC236}">
                <a16:creationId xmlns:a16="http://schemas.microsoft.com/office/drawing/2014/main" id="{7D799253-DAB5-FBC0-5AA6-B153DCD708A5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7" name="Picture 2" descr="ELEKTRON-O nás">
            <a:extLst>
              <a:ext uri="{FF2B5EF4-FFF2-40B4-BE49-F238E27FC236}">
                <a16:creationId xmlns:a16="http://schemas.microsoft.com/office/drawing/2014/main" id="{0BA83944-0BDE-8E74-AC53-E44C394E9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pic>
        <p:nvPicPr>
          <p:cNvPr id="8" name="Obrázok 7" descr="Obrázok, na ktorom je tráva, nebo, exteriér, strom&#10;&#10;Obsah vygenerovaný pomocou AI môže byť nesprávny.">
            <a:extLst>
              <a:ext uri="{FF2B5EF4-FFF2-40B4-BE49-F238E27FC236}">
                <a16:creationId xmlns:a16="http://schemas.microsoft.com/office/drawing/2014/main" id="{BFD47B23-CA21-1C3C-E92E-C8562DFD3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5644" y="2099623"/>
            <a:ext cx="5034644" cy="3116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20;p21" descr="image.png">
            <a:extLst>
              <a:ext uri="{FF2B5EF4-FFF2-40B4-BE49-F238E27FC236}">
                <a16:creationId xmlns:a16="http://schemas.microsoft.com/office/drawing/2014/main" id="{391FFCE9-4BA8-74A0-028C-2CEA22A7C1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61" y="410399"/>
            <a:ext cx="7405949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1004661" y="1714875"/>
            <a:ext cx="965365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1.)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Inicializácia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MCU a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modulu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Quectel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BG77</a:t>
            </a:r>
            <a:endParaRPr lang="sk-SK" sz="2000">
              <a:solidFill>
                <a:srgbClr val="FFFFFF"/>
              </a:solidFill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789214" y="1124857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STARTUP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SEKVENCIA</a:t>
            </a:r>
            <a:endParaRPr dirty="0"/>
          </a:p>
        </p:txBody>
      </p:sp>
      <p:sp>
        <p:nvSpPr>
          <p:cNvPr id="213" name="Google Shape;213;p20"/>
          <p:cNvSpPr/>
          <p:nvPr/>
        </p:nvSpPr>
        <p:spPr>
          <a:xfrm>
            <a:off x="648607" y="112485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bdĺžnik 15">
            <a:extLst>
              <a:ext uri="{FF2B5EF4-FFF2-40B4-BE49-F238E27FC236}">
                <a16:creationId xmlns:a16="http://schemas.microsoft.com/office/drawing/2014/main" id="{3517B2B5-581F-4FCD-10C0-DD32266CB32C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7" name="Picture 2" descr="ELEKTRON-O nás">
            <a:extLst>
              <a:ext uri="{FF2B5EF4-FFF2-40B4-BE49-F238E27FC236}">
                <a16:creationId xmlns:a16="http://schemas.microsoft.com/office/drawing/2014/main" id="{CDFB65CF-BC9A-E64B-BA88-3C7D0A4905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pic>
        <p:nvPicPr>
          <p:cNvPr id="10" name="Obrázok 9" descr="Obrázok, na ktorom je text, snímka obrazovky, písmo, dizajn&#10;&#10;Obsah vygenerovaný pomocou AI môže byť nesprávny.">
            <a:extLst>
              <a:ext uri="{FF2B5EF4-FFF2-40B4-BE49-F238E27FC236}">
                <a16:creationId xmlns:a16="http://schemas.microsoft.com/office/drawing/2014/main" id="{E6356431-E88C-A8B3-8BCA-77A23C07EBF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4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 t="11165" r="-173" b="11528"/>
          <a:stretch>
            <a:fillRect/>
          </a:stretch>
        </p:blipFill>
        <p:spPr>
          <a:xfrm>
            <a:off x="8608841" y="409669"/>
            <a:ext cx="2623049" cy="56463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Obrázok 4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76A1E990-A04D-0F51-7C11-6E9E87B390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5644" y="2424039"/>
            <a:ext cx="4671786" cy="1002992"/>
          </a:xfrm>
          <a:prstGeom prst="rect">
            <a:avLst/>
          </a:prstGeom>
        </p:spPr>
      </p:pic>
      <p:pic>
        <p:nvPicPr>
          <p:cNvPr id="11" name="Obrázok 10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14B7DB34-5CA8-38C1-BD70-AB00DD2EEF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3654615"/>
            <a:ext cx="5982607" cy="21250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B35DAE1E-06C2-C673-0DBA-324798B70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20;p21" descr="image.png">
            <a:extLst>
              <a:ext uri="{FF2B5EF4-FFF2-40B4-BE49-F238E27FC236}">
                <a16:creationId xmlns:a16="http://schemas.microsoft.com/office/drawing/2014/main" id="{CAE8F0F2-93B6-0B02-BEAF-0B6289E83A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61" y="410399"/>
            <a:ext cx="7405949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>
            <a:extLst>
              <a:ext uri="{FF2B5EF4-FFF2-40B4-BE49-F238E27FC236}">
                <a16:creationId xmlns:a16="http://schemas.microsoft.com/office/drawing/2014/main" id="{BE883153-0389-ABD5-F2D2-FC71E802B5C2}"/>
              </a:ext>
            </a:extLst>
          </p:cNvPr>
          <p:cNvSpPr txBox="1"/>
          <p:nvPr/>
        </p:nvSpPr>
        <p:spPr>
          <a:xfrm>
            <a:off x="954768" y="3701944"/>
            <a:ext cx="161487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3.)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Sieťová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registrácia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do NB-IoT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bunkovej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siete</a:t>
            </a:r>
            <a:endParaRPr lang="sk-SK" sz="2000">
              <a:solidFill>
                <a:srgbClr val="FFFFFF"/>
              </a:solidFill>
            </a:endParaRPr>
          </a:p>
        </p:txBody>
      </p:sp>
      <p:sp>
        <p:nvSpPr>
          <p:cNvPr id="212" name="Google Shape;212;p20">
            <a:extLst>
              <a:ext uri="{FF2B5EF4-FFF2-40B4-BE49-F238E27FC236}">
                <a16:creationId xmlns:a16="http://schemas.microsoft.com/office/drawing/2014/main" id="{386BC956-C0BD-724C-17D1-06E01EAF0154}"/>
              </a:ext>
            </a:extLst>
          </p:cNvPr>
          <p:cNvSpPr txBox="1"/>
          <p:nvPr/>
        </p:nvSpPr>
        <p:spPr>
          <a:xfrm>
            <a:off x="789214" y="1124857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STARTUP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SEKVENCIA</a:t>
            </a:r>
            <a:endParaRPr dirty="0"/>
          </a:p>
        </p:txBody>
      </p:sp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AC72DD39-3CF7-D0C2-4C53-A148F8F04297}"/>
              </a:ext>
            </a:extLst>
          </p:cNvPr>
          <p:cNvSpPr/>
          <p:nvPr/>
        </p:nvSpPr>
        <p:spPr>
          <a:xfrm>
            <a:off x="648607" y="112485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bdĺžnik 15">
            <a:extLst>
              <a:ext uri="{FF2B5EF4-FFF2-40B4-BE49-F238E27FC236}">
                <a16:creationId xmlns:a16="http://schemas.microsoft.com/office/drawing/2014/main" id="{42488C4B-B715-370F-B9B8-DEA310B4572C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7" name="Picture 2" descr="ELEKTRON-O nás">
            <a:extLst>
              <a:ext uri="{FF2B5EF4-FFF2-40B4-BE49-F238E27FC236}">
                <a16:creationId xmlns:a16="http://schemas.microsoft.com/office/drawing/2014/main" id="{68038AA5-E1CD-8F6B-5FBA-990BB7BDC9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pic>
        <p:nvPicPr>
          <p:cNvPr id="10" name="Obrázok 9" descr="Obrázok, na ktorom je text, snímka obrazovky, písmo, dizajn&#10;&#10;Obsah vygenerovaný pomocou AI môže byť nesprávny.">
            <a:extLst>
              <a:ext uri="{FF2B5EF4-FFF2-40B4-BE49-F238E27FC236}">
                <a16:creationId xmlns:a16="http://schemas.microsoft.com/office/drawing/2014/main" id="{F1D2556A-D81A-2198-B4F4-A2FBFB86400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4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 t="11165" r="-173" b="11528"/>
          <a:stretch>
            <a:fillRect/>
          </a:stretch>
        </p:blipFill>
        <p:spPr>
          <a:xfrm>
            <a:off x="8608841" y="409669"/>
            <a:ext cx="2623049" cy="56463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Obrázok 1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B009F8F8-1BB0-FAED-B26B-1F0AE13F58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3607" y="4219922"/>
            <a:ext cx="5533571" cy="1502442"/>
          </a:xfrm>
          <a:prstGeom prst="rect">
            <a:avLst/>
          </a:prstGeom>
        </p:spPr>
      </p:pic>
      <p:sp>
        <p:nvSpPr>
          <p:cNvPr id="5" name="Google Shape;203;p20">
            <a:extLst>
              <a:ext uri="{FF2B5EF4-FFF2-40B4-BE49-F238E27FC236}">
                <a16:creationId xmlns:a16="http://schemas.microsoft.com/office/drawing/2014/main" id="{35D9BA1A-3240-60E6-4BB1-C0A5CE770BE2}"/>
              </a:ext>
            </a:extLst>
          </p:cNvPr>
          <p:cNvSpPr txBox="1"/>
          <p:nvPr/>
        </p:nvSpPr>
        <p:spPr>
          <a:xfrm>
            <a:off x="954768" y="1851159"/>
            <a:ext cx="161487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2.)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Čítanie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unikátneho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Device ID (IMEI/VUTID)</a:t>
            </a:r>
            <a:endParaRPr lang="sk-SK" sz="1600">
              <a:solidFill>
                <a:srgbClr val="FFFFFF"/>
              </a:solidFill>
            </a:endParaRPr>
          </a:p>
        </p:txBody>
      </p:sp>
      <p:pic>
        <p:nvPicPr>
          <p:cNvPr id="6" name="Obrázok 5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0ABF137F-289E-38E8-9542-B2760113214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518330" y="2457904"/>
            <a:ext cx="423862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16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229791D-908C-6065-BC12-54F7438EA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20;p21" descr="image.png">
            <a:extLst>
              <a:ext uri="{FF2B5EF4-FFF2-40B4-BE49-F238E27FC236}">
                <a16:creationId xmlns:a16="http://schemas.microsoft.com/office/drawing/2014/main" id="{355160D5-C88C-0C34-689C-B5782ABAEB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61" y="410399"/>
            <a:ext cx="7405949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>
            <a:extLst>
              <a:ext uri="{FF2B5EF4-FFF2-40B4-BE49-F238E27FC236}">
                <a16:creationId xmlns:a16="http://schemas.microsoft.com/office/drawing/2014/main" id="{C2E53EF4-4EF7-B0D3-72B0-F0AB5833A3AD}"/>
              </a:ext>
            </a:extLst>
          </p:cNvPr>
          <p:cNvSpPr txBox="1"/>
          <p:nvPr/>
        </p:nvSpPr>
        <p:spPr>
          <a:xfrm>
            <a:off x="1000125" y="1715512"/>
            <a:ext cx="161487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4.)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Akvizícia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fixnej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polohy</a:t>
            </a:r>
            <a:r>
              <a:rPr lang="en-US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+ </a:t>
            </a:r>
            <a:r>
              <a:rPr lang="en-US" sz="2000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hodnoty</a:t>
            </a:r>
            <a:r>
              <a:rPr lang="en-US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senzora</a:t>
            </a:r>
            <a:endParaRPr lang="en-US" sz="2000" dirty="0" err="1">
              <a:solidFill>
                <a:srgbClr val="FFFFFF"/>
              </a:solidFill>
              <a:latin typeface="Urbanist Medium"/>
              <a:ea typeface="Urbanist Medium"/>
              <a:cs typeface="Urbanist Medium"/>
            </a:endParaRPr>
          </a:p>
        </p:txBody>
      </p:sp>
      <p:sp>
        <p:nvSpPr>
          <p:cNvPr id="206" name="Google Shape;206;p20">
            <a:extLst>
              <a:ext uri="{FF2B5EF4-FFF2-40B4-BE49-F238E27FC236}">
                <a16:creationId xmlns:a16="http://schemas.microsoft.com/office/drawing/2014/main" id="{93BBCFD3-48F2-863E-AC48-AA8981D04FA0}"/>
              </a:ext>
            </a:extLst>
          </p:cNvPr>
          <p:cNvSpPr txBox="1"/>
          <p:nvPr/>
        </p:nvSpPr>
        <p:spPr>
          <a:xfrm>
            <a:off x="1000125" y="3289619"/>
            <a:ext cx="161487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5.) Odoslanie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úvodnej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telemetrie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na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Thingsboard</a:t>
            </a:r>
            <a:endParaRPr sz="2000" dirty="0">
              <a:solidFill>
                <a:srgbClr val="FFFFFF"/>
              </a:solidFill>
            </a:endParaRPr>
          </a:p>
        </p:txBody>
      </p:sp>
      <p:sp>
        <p:nvSpPr>
          <p:cNvPr id="212" name="Google Shape;212;p20">
            <a:extLst>
              <a:ext uri="{FF2B5EF4-FFF2-40B4-BE49-F238E27FC236}">
                <a16:creationId xmlns:a16="http://schemas.microsoft.com/office/drawing/2014/main" id="{B2336F77-C72E-1989-7495-ACBA8AE88FDF}"/>
              </a:ext>
            </a:extLst>
          </p:cNvPr>
          <p:cNvSpPr txBox="1"/>
          <p:nvPr/>
        </p:nvSpPr>
        <p:spPr>
          <a:xfrm>
            <a:off x="789214" y="1124857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STARTUP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SEKVENCIA</a:t>
            </a:r>
            <a:endParaRPr dirty="0"/>
          </a:p>
        </p:txBody>
      </p:sp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EF3864F7-1C15-8C3B-FD98-827FF31C7273}"/>
              </a:ext>
            </a:extLst>
          </p:cNvPr>
          <p:cNvSpPr/>
          <p:nvPr/>
        </p:nvSpPr>
        <p:spPr>
          <a:xfrm>
            <a:off x="648607" y="112485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bdĺžnik 15">
            <a:extLst>
              <a:ext uri="{FF2B5EF4-FFF2-40B4-BE49-F238E27FC236}">
                <a16:creationId xmlns:a16="http://schemas.microsoft.com/office/drawing/2014/main" id="{C316E1D5-703E-9FA1-F198-43DAE48C24A0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7" name="Picture 2" descr="ELEKTRON-O nás">
            <a:extLst>
              <a:ext uri="{FF2B5EF4-FFF2-40B4-BE49-F238E27FC236}">
                <a16:creationId xmlns:a16="http://schemas.microsoft.com/office/drawing/2014/main" id="{C0205520-D151-53A2-DC5B-7017071A5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pic>
        <p:nvPicPr>
          <p:cNvPr id="10" name="Obrázok 9" descr="Obrázok, na ktorom je text, snímka obrazovky, písmo, dizajn&#10;&#10;Obsah vygenerovaný pomocou AI môže byť nesprávny.">
            <a:extLst>
              <a:ext uri="{FF2B5EF4-FFF2-40B4-BE49-F238E27FC236}">
                <a16:creationId xmlns:a16="http://schemas.microsoft.com/office/drawing/2014/main" id="{F5075C38-59E1-33A3-6109-9217522374B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4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 t="11165" r="-173" b="11528"/>
          <a:stretch>
            <a:fillRect/>
          </a:stretch>
        </p:blipFill>
        <p:spPr>
          <a:xfrm>
            <a:off x="8608841" y="409669"/>
            <a:ext cx="2623049" cy="56463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Obrázok 1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ABEEA51E-410E-F343-385C-5C1F7CF3F47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9221" r="-99" b="9171"/>
          <a:stretch>
            <a:fillRect/>
          </a:stretch>
        </p:blipFill>
        <p:spPr>
          <a:xfrm>
            <a:off x="1539078" y="3719853"/>
            <a:ext cx="4888262" cy="2326117"/>
          </a:xfrm>
          <a:prstGeom prst="rect">
            <a:avLst/>
          </a:prstGeom>
        </p:spPr>
      </p:pic>
      <p:pic>
        <p:nvPicPr>
          <p:cNvPr id="5" name="Obrázok 4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7497B40B-AFD3-25FC-89A1-BA2D9AA8D6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859" y="2156089"/>
            <a:ext cx="6984998" cy="119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49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2000" b="-2000"/>
          </a:stretch>
        </a:blip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0;p21" descr="image.png">
            <a:extLst>
              <a:ext uri="{FF2B5EF4-FFF2-40B4-BE49-F238E27FC236}">
                <a16:creationId xmlns:a16="http://schemas.microsoft.com/office/drawing/2014/main" id="{1A2F1F62-63BB-37E7-E487-C2EE40C848D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7311572" cy="518885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1333500" y="1674614"/>
            <a:ext cx="102012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THINGSBOARD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DASHBOARD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1143000" y="1674614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1571625" y="2950964"/>
            <a:ext cx="571726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Reálne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grafy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teploty</a:t>
            </a:r>
            <a:r>
              <a:rPr lang="en-US" sz="2000" b="1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,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vlhkosti</a:t>
            </a:r>
            <a:r>
              <a:rPr lang="en-US" sz="2000" b="1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 </a:t>
            </a:r>
            <a:r>
              <a:rPr lang="en-US" sz="2000" b="1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rýchlosť</a:t>
            </a:r>
            <a:r>
              <a:rPr lang="en-US" sz="2000" b="1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vetra</a:t>
            </a:r>
            <a:endParaRPr lang="sk-SK" sz="2000" b="1" dirty="0" err="1">
              <a:solidFill>
                <a:schemeClr val="bg1"/>
              </a:solidFill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1571625" y="3509069"/>
            <a:ext cx="479198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Interaktívna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mapa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s GPS </a:t>
            </a:r>
            <a:r>
              <a:rPr lang="en-US" sz="2000" b="1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fixnou</a:t>
            </a:r>
            <a:r>
              <a:rPr lang="en-US" sz="2000" b="1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polohou</a:t>
            </a:r>
            <a:endParaRPr lang="sk-SK" sz="2000" b="1">
              <a:solidFill>
                <a:schemeClr val="bg1"/>
              </a:solidFill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571625" y="4625280"/>
            <a:ext cx="42386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b="1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Diagnostika</a:t>
            </a:r>
            <a:r>
              <a:rPr lang="en-US" sz="2000" b="1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signálu</a:t>
            </a:r>
            <a:endParaRPr lang="sk-SK" b="1">
              <a:solidFill>
                <a:schemeClr val="bg1"/>
              </a:solidFill>
            </a:endParaRPr>
          </a:p>
        </p:txBody>
      </p:sp>
      <p:sp>
        <p:nvSpPr>
          <p:cNvPr id="5" name="Obdĺžnik 15">
            <a:extLst>
              <a:ext uri="{FF2B5EF4-FFF2-40B4-BE49-F238E27FC236}">
                <a16:creationId xmlns:a16="http://schemas.microsoft.com/office/drawing/2014/main" id="{AE5E699D-0734-4B9C-47B1-65077DCD4016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7" name="Picture 2" descr="ELEKTRON-O nás">
            <a:extLst>
              <a:ext uri="{FF2B5EF4-FFF2-40B4-BE49-F238E27FC236}">
                <a16:creationId xmlns:a16="http://schemas.microsoft.com/office/drawing/2014/main" id="{1BC702EF-0BCA-B75B-1826-3D71638A6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sp>
        <p:nvSpPr>
          <p:cNvPr id="3" name="Google Shape;222;p21">
            <a:extLst>
              <a:ext uri="{FF2B5EF4-FFF2-40B4-BE49-F238E27FC236}">
                <a16:creationId xmlns:a16="http://schemas.microsoft.com/office/drawing/2014/main" id="{C2D01916-27B8-944C-DD06-3E35C02C6F49}"/>
              </a:ext>
            </a:extLst>
          </p:cNvPr>
          <p:cNvSpPr/>
          <p:nvPr/>
        </p:nvSpPr>
        <p:spPr>
          <a:xfrm>
            <a:off x="1170214" y="2949149"/>
            <a:ext cx="61685" cy="20945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9565ACE6-528E-0149-E2AF-7D330F9905C9}"/>
              </a:ext>
            </a:extLst>
          </p:cNvPr>
          <p:cNvSpPr txBox="1"/>
          <p:nvPr/>
        </p:nvSpPr>
        <p:spPr>
          <a:xfrm>
            <a:off x="1496786" y="4104821"/>
            <a:ext cx="6096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rgbClr val="FFFFFF"/>
                </a:solidFill>
                <a:latin typeface="Urbanist Medium"/>
              </a:rPr>
              <a:t>Aktualizované</a:t>
            </a:r>
            <a:r>
              <a:rPr lang="en-US" sz="2000" b="1" dirty="0">
                <a:solidFill>
                  <a:srgbClr val="FFFFFF"/>
                </a:solidFill>
                <a:latin typeface="Urbanist Medium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Urbanist Medium"/>
              </a:rPr>
              <a:t>každých</a:t>
            </a:r>
            <a:r>
              <a:rPr lang="en-US" sz="2000" b="1" dirty="0">
                <a:solidFill>
                  <a:srgbClr val="FFFFFF"/>
                </a:solidFill>
                <a:latin typeface="Urbanist Medium"/>
              </a:rPr>
              <a:t> 10 min</a:t>
            </a:r>
            <a:endParaRPr lang="sk-SK" dirty="0"/>
          </a:p>
          <a:p>
            <a:pPr algn="ctr"/>
            <a:endParaRPr lang="sk-SK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0;p21" descr="image.png">
            <a:extLst>
              <a:ext uri="{FF2B5EF4-FFF2-40B4-BE49-F238E27FC236}">
                <a16:creationId xmlns:a16="http://schemas.microsoft.com/office/drawing/2014/main" id="{E05BF2F3-57D1-0B32-3978-5873F6069B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1025047" y="1046336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sk-SK" sz="3600" b="1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Voľba záložnej batérie</a:t>
            </a:r>
          </a:p>
        </p:txBody>
      </p:sp>
      <p:sp>
        <p:nvSpPr>
          <p:cNvPr id="195" name="Google Shape;195;p19"/>
          <p:cNvSpPr/>
          <p:nvPr/>
        </p:nvSpPr>
        <p:spPr>
          <a:xfrm>
            <a:off x="769699" y="1046336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Obdĺžnik 15">
            <a:extLst>
              <a:ext uri="{FF2B5EF4-FFF2-40B4-BE49-F238E27FC236}">
                <a16:creationId xmlns:a16="http://schemas.microsoft.com/office/drawing/2014/main" id="{80681A5D-6D64-6A66-C1CB-ED17561CF378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6" name="Picture 2" descr="ELEKTRON-O nás">
            <a:extLst>
              <a:ext uri="{FF2B5EF4-FFF2-40B4-BE49-F238E27FC236}">
                <a16:creationId xmlns:a16="http://schemas.microsoft.com/office/drawing/2014/main" id="{0738FF7B-9C21-681A-C766-CF8B9F148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sp>
        <p:nvSpPr>
          <p:cNvPr id="3" name="BlokTextu 2">
            <a:extLst>
              <a:ext uri="{FF2B5EF4-FFF2-40B4-BE49-F238E27FC236}">
                <a16:creationId xmlns:a16="http://schemas.microsoft.com/office/drawing/2014/main" id="{EDA61B1B-37AC-1D6E-96DC-8C1FAB551687}"/>
              </a:ext>
            </a:extLst>
          </p:cNvPr>
          <p:cNvSpPr txBox="1"/>
          <p:nvPr/>
        </p:nvSpPr>
        <p:spPr>
          <a:xfrm>
            <a:off x="835277" y="1729317"/>
            <a:ext cx="11023297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Cyklus trvá 10 minút a 15 sekúnd (</a:t>
            </a:r>
            <a:r>
              <a:rPr lang="sk-SK" sz="2000" b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615 sekúnd</a:t>
            </a:r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):</a:t>
            </a:r>
          </a:p>
          <a:p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-&gt; </a:t>
            </a:r>
            <a:r>
              <a:rPr lang="sk-SK" sz="2000" b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Aktívna fáza</a:t>
            </a:r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 (15 sekúnd): Pico (20 mA) + Modem vysiela (150 mA) = 170 mA.</a:t>
            </a:r>
          </a:p>
          <a:p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-&gt; </a:t>
            </a:r>
            <a:r>
              <a:rPr lang="sk-SK" sz="20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Fáza spánku</a:t>
            </a:r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 (600 sekúnd): Modem spí v PSM (0.003 mA) + Pico "spí" v time.sleep = </a:t>
            </a:r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~15 mA.</a:t>
            </a:r>
            <a:b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</a:br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-&gt; Lítiové batérie (18650 alebo Li-Po) nemajú rady, keď sú v kuse, nabíjané na 100 %</a:t>
            </a:r>
          </a:p>
          <a:p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-&gt; Ideál použiť malý </a:t>
            </a:r>
            <a:r>
              <a:rPr lang="sk-SK" sz="20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UPS modul</a:t>
            </a:r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 (napr. s čipom IP5306), aby batériu neprebíjal a pri výpadku            </a:t>
            </a:r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plynulo prešiel na baterku.</a:t>
            </a:r>
          </a:p>
          <a:p>
            <a:endParaRPr lang="sk-SK" dirty="0">
              <a:solidFill>
                <a:schemeClr val="bg1"/>
              </a:solidFill>
            </a:endParaRPr>
          </a:p>
        </p:txBody>
      </p:sp>
      <p:pic>
        <p:nvPicPr>
          <p:cNvPr id="7" name="Obrázok 6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FA9E37A7-02E7-DEB3-F1F6-C5C8FD8F6A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1036" y="3803336"/>
            <a:ext cx="7248071" cy="20906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6E683265-16E8-5098-9E34-904278608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0;p21" descr="image.png">
            <a:extLst>
              <a:ext uri="{FF2B5EF4-FFF2-40B4-BE49-F238E27FC236}">
                <a16:creationId xmlns:a16="http://schemas.microsoft.com/office/drawing/2014/main" id="{C379A624-5063-3E56-CCE3-A2BA1DE3C4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424CCFEC-F78E-1A6D-B24B-DB3D783655CB}"/>
              </a:ext>
            </a:extLst>
          </p:cNvPr>
          <p:cNvSpPr txBox="1"/>
          <p:nvPr/>
        </p:nvSpPr>
        <p:spPr>
          <a:xfrm>
            <a:off x="1025047" y="1046336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sk-SK" sz="3600" b="1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Voľba záložnej batérie</a:t>
            </a: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E50515AE-9C21-DE2C-D793-D434481D03FB}"/>
              </a:ext>
            </a:extLst>
          </p:cNvPr>
          <p:cNvSpPr/>
          <p:nvPr/>
        </p:nvSpPr>
        <p:spPr>
          <a:xfrm>
            <a:off x="769699" y="1046336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Obdĺžnik 15">
            <a:extLst>
              <a:ext uri="{FF2B5EF4-FFF2-40B4-BE49-F238E27FC236}">
                <a16:creationId xmlns:a16="http://schemas.microsoft.com/office/drawing/2014/main" id="{FDB3DC42-0069-E37B-5908-B058AADB7E00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6" name="Picture 2" descr="ELEKTRON-O nás">
            <a:extLst>
              <a:ext uri="{FF2B5EF4-FFF2-40B4-BE49-F238E27FC236}">
                <a16:creationId xmlns:a16="http://schemas.microsoft.com/office/drawing/2014/main" id="{1D77648D-203F-D1BF-7326-43A5F79EC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sp>
        <p:nvSpPr>
          <p:cNvPr id="3" name="BlokTextu 2">
            <a:extLst>
              <a:ext uri="{FF2B5EF4-FFF2-40B4-BE49-F238E27FC236}">
                <a16:creationId xmlns:a16="http://schemas.microsoft.com/office/drawing/2014/main" id="{09886E7D-D672-53AD-9927-746A1D5A31AE}"/>
              </a:ext>
            </a:extLst>
          </p:cNvPr>
          <p:cNvSpPr txBox="1"/>
          <p:nvPr/>
        </p:nvSpPr>
        <p:spPr>
          <a:xfrm>
            <a:off x="826207" y="1720247"/>
            <a:ext cx="11045974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Cyklus trvá 10 minút a 15 sekúnd (</a:t>
            </a:r>
            <a:r>
              <a:rPr lang="sk-SK" sz="20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615 sekúnd</a:t>
            </a:r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):</a:t>
            </a:r>
          </a:p>
          <a:p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-&gt; </a:t>
            </a:r>
            <a:r>
              <a:rPr lang="sk-SK" sz="20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Aktívna fáza</a:t>
            </a:r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 (15 sekúnd): </a:t>
            </a:r>
            <a:r>
              <a:rPr lang="sk-SK" sz="2000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Pico</a:t>
            </a:r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 (20 </a:t>
            </a:r>
            <a:r>
              <a:rPr lang="sk-SK" sz="2000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mA</a:t>
            </a:r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) + Modem vysiela (150 </a:t>
            </a:r>
            <a:r>
              <a:rPr lang="sk-SK" sz="2000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mA</a:t>
            </a:r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) = 170 </a:t>
            </a:r>
            <a:r>
              <a:rPr lang="sk-SK" sz="2000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mA</a:t>
            </a:r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.</a:t>
            </a:r>
          </a:p>
          <a:p>
            <a:r>
              <a:rPr lang="sk-SK" sz="2000">
                <a:solidFill>
                  <a:srgbClr val="FFFFFF"/>
                </a:solidFill>
                <a:latin typeface="Urbanist Medium"/>
              </a:rPr>
              <a:t>-&gt; V </a:t>
            </a:r>
            <a:r>
              <a:rPr lang="sk-SK" sz="2000" dirty="0">
                <a:solidFill>
                  <a:srgbClr val="FFFFFF"/>
                </a:solidFill>
                <a:latin typeface="Urbanist Medium"/>
              </a:rPr>
              <a:t>reálnej inštalácií by sme využili napr. </a:t>
            </a:r>
            <a:r>
              <a:rPr lang="sk-SK" sz="2000" dirty="0" err="1">
                <a:solidFill>
                  <a:srgbClr val="FFFFFF"/>
                </a:solidFill>
                <a:latin typeface="Urbanist Medium"/>
              </a:rPr>
              <a:t>Nordic</a:t>
            </a:r>
            <a:r>
              <a:rPr lang="sk-SK" sz="2000" dirty="0">
                <a:solidFill>
                  <a:srgbClr val="FFFFFF"/>
                </a:solidFill>
                <a:latin typeface="Urbanist Medium"/>
              </a:rPr>
              <a:t> </a:t>
            </a:r>
            <a:r>
              <a:rPr lang="sk-SK" sz="2000" dirty="0" err="1">
                <a:solidFill>
                  <a:srgbClr val="FFFFFF"/>
                </a:solidFill>
                <a:latin typeface="Urbanist Medium"/>
              </a:rPr>
              <a:t>Semiconductor</a:t>
            </a:r>
            <a:r>
              <a:rPr lang="sk-SK" sz="2000" dirty="0">
                <a:solidFill>
                  <a:srgbClr val="FFFFFF"/>
                </a:solidFill>
                <a:latin typeface="Urbanist Medium"/>
              </a:rPr>
              <a:t> (nRF9160).</a:t>
            </a:r>
            <a:r>
              <a:rPr lang="en-SK" sz="2000" dirty="0">
                <a:solidFill>
                  <a:srgbClr val="FFFFFF"/>
                </a:solidFill>
                <a:latin typeface="Urbanist Medium"/>
              </a:rPr>
              <a:t>​ </a:t>
            </a:r>
          </a:p>
          <a:p>
            <a:r>
              <a:rPr lang="sk-SK" sz="2000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-&gt;</a:t>
            </a:r>
            <a:r>
              <a:rPr lang="sk-SK" sz="20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 Fáza spánku</a:t>
            </a:r>
            <a:r>
              <a:rPr lang="sk-SK" sz="2000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 (600 sekúnd): Modem spí v PSM (0.003 </a:t>
            </a:r>
            <a:r>
              <a:rPr lang="sk-SK" sz="2000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mA</a:t>
            </a:r>
            <a:r>
              <a:rPr lang="sk-SK" sz="2000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) + </a:t>
            </a:r>
            <a:r>
              <a:rPr lang="sk-SK" sz="2000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Pico</a:t>
            </a:r>
            <a:r>
              <a:rPr lang="sk-SK" sz="2000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 vypnuté (0 </a:t>
            </a:r>
            <a:r>
              <a:rPr lang="sk-SK" sz="2000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mA</a:t>
            </a:r>
            <a:r>
              <a:rPr lang="sk-SK" sz="2000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) =</a:t>
            </a:r>
            <a:r>
              <a:rPr lang="sk-SK" sz="20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 0.003 </a:t>
            </a:r>
            <a:r>
              <a:rPr lang="sk-SK" sz="2000" b="1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mA</a:t>
            </a:r>
            <a:r>
              <a:rPr lang="sk-SK" sz="2000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.</a:t>
            </a:r>
          </a:p>
          <a:p>
            <a:r>
              <a:rPr lang="sk-SK" sz="2000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-&gt; Alternatíva by bola súčiastka TPL5110, ktorá odsekne </a:t>
            </a:r>
            <a:r>
              <a:rPr lang="sk-SK" sz="2000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Picu</a:t>
            </a:r>
            <a:r>
              <a:rPr lang="sk-SK" sz="2000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 prúd a zobudí ho po 10 minútach.</a:t>
            </a:r>
            <a:endParaRPr lang="sk-SK" sz="1100" dirty="0">
              <a:solidFill>
                <a:schemeClr val="bg1"/>
              </a:solidFill>
              <a:highlight>
                <a:srgbClr val="FFFFFF"/>
              </a:highlight>
              <a:ea typeface="Urbanist Medium"/>
            </a:endParaRPr>
          </a:p>
          <a:p>
            <a:endParaRPr lang="sk-SK" dirty="0">
              <a:solidFill>
                <a:schemeClr val="bg1"/>
              </a:solidFill>
            </a:endParaRPr>
          </a:p>
        </p:txBody>
      </p:sp>
      <p:pic>
        <p:nvPicPr>
          <p:cNvPr id="5" name="Obrázok 4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3DFBC608-DF4A-3C32-22B0-F90414F536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3606072"/>
            <a:ext cx="8005536" cy="209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84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"/>
          <p:cNvSpPr txBox="1"/>
          <p:nvPr/>
        </p:nvSpPr>
        <p:spPr>
          <a:xfrm>
            <a:off x="295275" y="2408932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OTÁZKY </a:t>
            </a:r>
            <a:r>
              <a:rPr lang="en-US" sz="60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&amp; DISKUSIA</a:t>
            </a:r>
            <a:endParaRPr dirty="0"/>
          </a:p>
        </p:txBody>
      </p:sp>
      <p:sp>
        <p:nvSpPr>
          <p:cNvPr id="256" name="Google Shape;256;p23"/>
          <p:cNvSpPr txBox="1"/>
          <p:nvPr/>
        </p:nvSpPr>
        <p:spPr>
          <a:xfrm>
            <a:off x="571499" y="3610869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Ďakujeme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za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pozornosť</a:t>
            </a:r>
            <a:endParaRPr dirty="0"/>
          </a:p>
        </p:txBody>
      </p:sp>
      <p:sp>
        <p:nvSpPr>
          <p:cNvPr id="258" name="Google Shape;258;p23"/>
          <p:cNvSpPr txBox="1"/>
          <p:nvPr/>
        </p:nvSpPr>
        <p:spPr>
          <a:xfrm>
            <a:off x="4264749" y="6161668"/>
            <a:ext cx="36624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JÁNOŠÍK • KAJTÁR • KIRIPOLSKÝ • KOLÁŘ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Macintosh PowerPoint</Application>
  <PresentationFormat>Widescreen</PresentationFormat>
  <Paragraphs>65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Urbanist</vt:lpstr>
      <vt:lpstr>Calibri</vt:lpstr>
      <vt:lpstr>Urbanist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Šimon Kiripolský</cp:lastModifiedBy>
  <cp:revision>485</cp:revision>
  <dcterms:modified xsi:type="dcterms:W3CDTF">2026-05-20T09:09:25Z</dcterms:modified>
</cp:coreProperties>
</file>